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9" r:id="rId4"/>
    <p:sldId id="260" r:id="rId5"/>
    <p:sldId id="264" r:id="rId6"/>
    <p:sldId id="265"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18" autoAdjust="0"/>
    <p:restoredTop sz="94660"/>
  </p:normalViewPr>
  <p:slideViewPr>
    <p:cSldViewPr snapToGrid="0">
      <p:cViewPr varScale="1">
        <p:scale>
          <a:sx n="72" d="100"/>
          <a:sy n="72" d="100"/>
        </p:scale>
        <p:origin x="69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08AFE3-7780-4165-8B35-C9595A13F56D}" type="datetimeFigureOut">
              <a:rPr lang="en-IN" smtClean="0"/>
              <a:t>05-12-2025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CAAD87-E491-4657-81C1-824ED23A7D0B}" type="slidenum">
              <a:rPr lang="en-IN" smtClean="0"/>
              <a:t>‹#›</a:t>
            </a:fld>
            <a:endParaRPr lang="en-IN"/>
          </a:p>
        </p:txBody>
      </p:sp>
    </p:spTree>
    <p:extLst>
      <p:ext uri="{BB962C8B-B14F-4D97-AF65-F5344CB8AC3E}">
        <p14:creationId xmlns:p14="http://schemas.microsoft.com/office/powerpoint/2010/main" val="633177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11462F9-A1A3-45FB-B730-269D9AB28A76}" type="datetime1">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95C81F-89B3-49CB-92CC-8D4BF25ED563}" type="slidenum">
              <a:rPr lang="en-IN" smtClean="0"/>
              <a:t>‹#›</a:t>
            </a:fld>
            <a:endParaRPr lang="en-IN"/>
          </a:p>
        </p:txBody>
      </p:sp>
    </p:spTree>
    <p:extLst>
      <p:ext uri="{BB962C8B-B14F-4D97-AF65-F5344CB8AC3E}">
        <p14:creationId xmlns:p14="http://schemas.microsoft.com/office/powerpoint/2010/main" val="1269183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3955718-07C3-413A-92BF-E37A3696FA20}" type="datetime1">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95C81F-89B3-49CB-92CC-8D4BF25ED563}" type="slidenum">
              <a:rPr lang="en-IN" smtClean="0"/>
              <a:t>‹#›</a:t>
            </a:fld>
            <a:endParaRPr lang="en-IN"/>
          </a:p>
        </p:txBody>
      </p:sp>
    </p:spTree>
    <p:extLst>
      <p:ext uri="{BB962C8B-B14F-4D97-AF65-F5344CB8AC3E}">
        <p14:creationId xmlns:p14="http://schemas.microsoft.com/office/powerpoint/2010/main" val="3400722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51AAD85-48F7-4268-905E-9DA2681E4139}" type="datetime1">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95C81F-89B3-49CB-92CC-8D4BF25ED563}" type="slidenum">
              <a:rPr lang="en-IN" smtClean="0"/>
              <a:t>‹#›</a:t>
            </a:fld>
            <a:endParaRPr lang="en-IN"/>
          </a:p>
        </p:txBody>
      </p:sp>
    </p:spTree>
    <p:extLst>
      <p:ext uri="{BB962C8B-B14F-4D97-AF65-F5344CB8AC3E}">
        <p14:creationId xmlns:p14="http://schemas.microsoft.com/office/powerpoint/2010/main" val="3331965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6E60EE3-CA86-47CA-AE9F-C8E0FD72F2FC}" type="datetime1">
              <a:rPr lang="en-IN" smtClean="0"/>
              <a:t>05-12-2025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95C81F-89B3-49CB-92CC-8D4BF25ED563}" type="slidenum">
              <a:rPr lang="en-IN" smtClean="0"/>
              <a:t>‹#›</a:t>
            </a:fld>
            <a:endParaRPr lang="en-IN"/>
          </a:p>
        </p:txBody>
      </p:sp>
    </p:spTree>
    <p:extLst>
      <p:ext uri="{BB962C8B-B14F-4D97-AF65-F5344CB8AC3E}">
        <p14:creationId xmlns:p14="http://schemas.microsoft.com/office/powerpoint/2010/main" val="3220293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1045E2D-841A-4760-A21B-27239BB72F97}" type="datetime1">
              <a:rPr lang="en-IN" smtClean="0"/>
              <a:t>05-12-2025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095C81F-89B3-49CB-92CC-8D4BF25ED563}" type="slidenum">
              <a:rPr lang="en-IN" smtClean="0"/>
              <a:t>‹#›</a:t>
            </a:fld>
            <a:endParaRPr lang="en-IN"/>
          </a:p>
        </p:txBody>
      </p:sp>
    </p:spTree>
    <p:extLst>
      <p:ext uri="{BB962C8B-B14F-4D97-AF65-F5344CB8AC3E}">
        <p14:creationId xmlns:p14="http://schemas.microsoft.com/office/powerpoint/2010/main" val="2963294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26C8B7E5-4418-4DD7-8E93-AFB81D4B8372}" type="datetime1">
              <a:rPr lang="en-IN" smtClean="0"/>
              <a:t>05-12-2025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095C81F-89B3-49CB-92CC-8D4BF25ED563}" type="slidenum">
              <a:rPr lang="en-IN" smtClean="0"/>
              <a:t>‹#›</a:t>
            </a:fld>
            <a:endParaRPr lang="en-IN"/>
          </a:p>
        </p:txBody>
      </p:sp>
    </p:spTree>
    <p:extLst>
      <p:ext uri="{BB962C8B-B14F-4D97-AF65-F5344CB8AC3E}">
        <p14:creationId xmlns:p14="http://schemas.microsoft.com/office/powerpoint/2010/main" val="2353031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47E016-5F7C-4BFA-AB29-0F260C5689DA}" type="datetime1">
              <a:rPr lang="en-IN" smtClean="0"/>
              <a:t>05-12-2025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095C81F-89B3-49CB-92CC-8D4BF25ED563}" type="slidenum">
              <a:rPr lang="en-IN" smtClean="0"/>
              <a:t>‹#›</a:t>
            </a:fld>
            <a:endParaRPr lang="en-IN"/>
          </a:p>
        </p:txBody>
      </p:sp>
    </p:spTree>
    <p:extLst>
      <p:ext uri="{BB962C8B-B14F-4D97-AF65-F5344CB8AC3E}">
        <p14:creationId xmlns:p14="http://schemas.microsoft.com/office/powerpoint/2010/main" val="357788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477D86E-F150-4D3F-94B1-8BC086831BAC}" type="datetime1">
              <a:rPr lang="en-IN" smtClean="0"/>
              <a:t>05-12-2025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95C81F-89B3-49CB-92CC-8D4BF25ED563}" type="slidenum">
              <a:rPr lang="en-IN" smtClean="0"/>
              <a:t>‹#›</a:t>
            </a:fld>
            <a:endParaRPr lang="en-IN"/>
          </a:p>
        </p:txBody>
      </p:sp>
    </p:spTree>
    <p:extLst>
      <p:ext uri="{BB962C8B-B14F-4D97-AF65-F5344CB8AC3E}">
        <p14:creationId xmlns:p14="http://schemas.microsoft.com/office/powerpoint/2010/main" val="970885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29D983E-634E-4747-8D09-2B50FE2921BA}" type="datetime1">
              <a:rPr lang="en-IN" smtClean="0"/>
              <a:t>05-12-2025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95C81F-89B3-49CB-92CC-8D4BF25ED563}" type="slidenum">
              <a:rPr lang="en-IN" smtClean="0"/>
              <a:t>‹#›</a:t>
            </a:fld>
            <a:endParaRPr lang="en-IN"/>
          </a:p>
        </p:txBody>
      </p:sp>
    </p:spTree>
    <p:extLst>
      <p:ext uri="{BB962C8B-B14F-4D97-AF65-F5344CB8AC3E}">
        <p14:creationId xmlns:p14="http://schemas.microsoft.com/office/powerpoint/2010/main" val="268903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85FF85D-2CE2-48A2-8900-85B2C7477E44}" type="datetime1">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95C81F-89B3-49CB-92CC-8D4BF25ED563}" type="slidenum">
              <a:rPr lang="en-IN" smtClean="0"/>
              <a:t>‹#›</a:t>
            </a:fld>
            <a:endParaRPr lang="en-IN"/>
          </a:p>
        </p:txBody>
      </p:sp>
    </p:spTree>
    <p:extLst>
      <p:ext uri="{BB962C8B-B14F-4D97-AF65-F5344CB8AC3E}">
        <p14:creationId xmlns:p14="http://schemas.microsoft.com/office/powerpoint/2010/main" val="678699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FD2996D-FAC2-4FE2-B1CC-C8450F73791F}" type="datetime1">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95C81F-89B3-49CB-92CC-8D4BF25ED563}" type="slidenum">
              <a:rPr lang="en-IN" smtClean="0"/>
              <a:t>‹#›</a:t>
            </a:fld>
            <a:endParaRPr lang="en-IN"/>
          </a:p>
        </p:txBody>
      </p:sp>
    </p:spTree>
    <p:extLst>
      <p:ext uri="{BB962C8B-B14F-4D97-AF65-F5344CB8AC3E}">
        <p14:creationId xmlns:p14="http://schemas.microsoft.com/office/powerpoint/2010/main" val="2559358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7396AF-05F5-4A7E-B5EC-C1DF2BD76E49}" type="datetime1">
              <a:rPr lang="en-IN" smtClean="0"/>
              <a:t>05-12-2025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95C81F-89B3-49CB-92CC-8D4BF25ED563}" type="slidenum">
              <a:rPr lang="en-IN" smtClean="0"/>
              <a:t>‹#›</a:t>
            </a:fld>
            <a:endParaRPr lang="en-IN"/>
          </a:p>
        </p:txBody>
      </p:sp>
    </p:spTree>
    <p:extLst>
      <p:ext uri="{BB962C8B-B14F-4D97-AF65-F5344CB8AC3E}">
        <p14:creationId xmlns:p14="http://schemas.microsoft.com/office/powerpoint/2010/main" val="1476264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4892693"/>
            <a:ext cx="12019724" cy="1938992"/>
          </a:xfrm>
          <a:prstGeom prst="rect">
            <a:avLst/>
          </a:prstGeom>
        </p:spPr>
        <p:txBody>
          <a:bodyPr wrap="square">
            <a:spAutoFit/>
          </a:bodyPr>
          <a:lstStyle/>
          <a:p>
            <a:pPr algn="just"/>
            <a:r>
              <a:rPr lang="en-US" sz="2000" dirty="0" smtClean="0">
                <a:latin typeface="Times New Roman" panose="02020603050405020304" pitchFamily="18" charset="0"/>
                <a:cs typeface="Times New Roman" panose="02020603050405020304" pitchFamily="18" charset="0"/>
              </a:rPr>
              <a:t>                   Diabetes </a:t>
            </a:r>
            <a:r>
              <a:rPr lang="en-US" sz="2000" dirty="0">
                <a:latin typeface="Times New Roman" panose="02020603050405020304" pitchFamily="18" charset="0"/>
                <a:cs typeface="Times New Roman" panose="02020603050405020304" pitchFamily="18" charset="0"/>
              </a:rPr>
              <a:t>is a major global health concern, affecting people of all age groups and lifestyles. With advancements in data science and medical research, it has become possible to analyze large datasets to identify patterns and risk factors associated with diabetes.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The </a:t>
            </a:r>
            <a:r>
              <a:rPr lang="en-US" sz="2000" dirty="0">
                <a:latin typeface="Times New Roman" panose="02020603050405020304" pitchFamily="18" charset="0"/>
                <a:cs typeface="Times New Roman" panose="02020603050405020304" pitchFamily="18" charset="0"/>
              </a:rPr>
              <a:t>aim of this project is to use data analysis techniques to study the relationship between health parameters such as age, BMI, glucose levels, and insulin levels, and to develop predictive models that can help in early detection and prevention</a:t>
            </a:r>
            <a:r>
              <a:rPr lang="en-US"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8095C81F-89B3-49CB-92CC-8D4BF25ED563}" type="slidenum">
              <a:rPr lang="en-IN" sz="1800" smtClean="0">
                <a:latin typeface="Times New Roman" panose="02020603050405020304" pitchFamily="18" charset="0"/>
                <a:cs typeface="Times New Roman" panose="02020603050405020304" pitchFamily="18" charset="0"/>
              </a:rPr>
              <a:t>1</a:t>
            </a:fld>
            <a:endParaRPr lang="en-IN" sz="1800" dirty="0">
              <a:latin typeface="Times New Roman" panose="02020603050405020304" pitchFamily="18" charset="0"/>
              <a:cs typeface="Times New Roman" panose="02020603050405020304" pitchFamily="18" charset="0"/>
            </a:endParaRPr>
          </a:p>
        </p:txBody>
      </p:sp>
      <p:pic>
        <p:nvPicPr>
          <p:cNvPr id="1028" name="Picture 4" descr="Is it Possible to reverse diabe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1930" y="0"/>
            <a:ext cx="6520070" cy="489269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nfographic Poster Diabete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5811177" cy="4892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9905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5181600"/>
            <a:ext cx="12192000" cy="1890747"/>
          </a:xfrm>
        </p:spPr>
        <p:txBody>
          <a:bodyPr>
            <a:normAutofit/>
          </a:bodyPr>
          <a:lstStyle/>
          <a:p>
            <a:r>
              <a:rPr lang="en-US" sz="2400" dirty="0" smtClean="0">
                <a:solidFill>
                  <a:srgbClr val="FF0000"/>
                </a:solidFill>
                <a:latin typeface="Arial" panose="020B0604020202020204" pitchFamily="34" charset="0"/>
                <a:cs typeface="Arial" panose="020B0604020202020204" pitchFamily="34" charset="0"/>
              </a:rPr>
              <a:t>DATA CLEANING PREPARATION</a:t>
            </a:r>
            <a:r>
              <a:rPr lang="en-US" sz="2400" dirty="0" smtClean="0">
                <a:latin typeface="Arial" panose="020B0604020202020204" pitchFamily="34" charset="0"/>
                <a:cs typeface="Arial" panose="020B0604020202020204" pitchFamily="34" charset="0"/>
              </a:rPr>
              <a:t/>
            </a:r>
            <a:br>
              <a:rPr lang="en-US" sz="2400" dirty="0" smtClean="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1.Conditional formatting-color scales</a:t>
            </a:r>
            <a:br>
              <a:rPr lang="en-US" sz="2400" dirty="0" smtClean="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2.Fomat Cells - Font </a:t>
            </a:r>
            <a:r>
              <a:rPr lang="en-US" sz="2400" dirty="0" smtClean="0">
                <a:latin typeface="Arial" panose="020B0604020202020204" pitchFamily="34" charset="0"/>
                <a:cs typeface="Arial" panose="020B0604020202020204" pitchFamily="34" charset="0"/>
              </a:rPr>
              <a:t>Size</a:t>
            </a:r>
            <a:br>
              <a:rPr lang="en-US" sz="2400" dirty="0" smtClean="0">
                <a:latin typeface="Arial" panose="020B0604020202020204" pitchFamily="34" charset="0"/>
                <a:cs typeface="Arial" panose="020B0604020202020204" pitchFamily="34" charset="0"/>
              </a:rPr>
            </a:br>
            <a:endParaRPr lang="en-IN" sz="2400" dirty="0">
              <a:latin typeface="Arial" panose="020B0604020202020204" pitchFamily="34" charset="0"/>
              <a:cs typeface="Arial" panose="020B0604020202020204" pitchFamily="34" charset="0"/>
            </a:endParaRPr>
          </a:p>
        </p:txBody>
      </p:sp>
      <p:sp>
        <p:nvSpPr>
          <p:cNvPr id="2" name="Slide Number Placeholder 1"/>
          <p:cNvSpPr>
            <a:spLocks noGrp="1"/>
          </p:cNvSpPr>
          <p:nvPr>
            <p:ph type="sldNum" sz="quarter" idx="12"/>
          </p:nvPr>
        </p:nvSpPr>
        <p:spPr/>
        <p:txBody>
          <a:bodyPr/>
          <a:lstStyle/>
          <a:p>
            <a:fld id="{8095C81F-89B3-49CB-92CC-8D4BF25ED563}" type="slidenum">
              <a:rPr lang="en-IN" sz="1800" smtClean="0"/>
              <a:t>2</a:t>
            </a:fld>
            <a:endParaRPr lang="en-IN" sz="1800" dirty="0"/>
          </a:p>
        </p:txBody>
      </p:sp>
      <p:sp>
        <p:nvSpPr>
          <p:cNvPr id="7" name="Title 1"/>
          <p:cNvSpPr txBox="1">
            <a:spLocks/>
          </p:cNvSpPr>
          <p:nvPr/>
        </p:nvSpPr>
        <p:spPr>
          <a:xfrm>
            <a:off x="6472030" y="4768220"/>
            <a:ext cx="3985591" cy="271750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0" y="0"/>
            <a:ext cx="6029739" cy="5242303"/>
          </a:xfrm>
          <a:prstGeom prst="rect">
            <a:avLst/>
          </a:prstGeom>
        </p:spPr>
      </p:pic>
      <p:pic>
        <p:nvPicPr>
          <p:cNvPr id="8" name="Picture 7"/>
          <p:cNvPicPr>
            <a:picLocks noChangeAspect="1"/>
          </p:cNvPicPr>
          <p:nvPr/>
        </p:nvPicPr>
        <p:blipFill>
          <a:blip r:embed="rId3"/>
          <a:stretch>
            <a:fillRect/>
          </a:stretch>
        </p:blipFill>
        <p:spPr>
          <a:xfrm>
            <a:off x="6029738" y="0"/>
            <a:ext cx="6162261" cy="5242303"/>
          </a:xfrm>
          <a:prstGeom prst="rect">
            <a:avLst/>
          </a:prstGeom>
        </p:spPr>
      </p:pic>
    </p:spTree>
    <p:extLst>
      <p:ext uri="{BB962C8B-B14F-4D97-AF65-F5344CB8AC3E}">
        <p14:creationId xmlns:p14="http://schemas.microsoft.com/office/powerpoint/2010/main" val="3787196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400951"/>
            <a:ext cx="4290391" cy="1325563"/>
          </a:xfrm>
        </p:spPr>
        <p:txBody>
          <a:bodyPr>
            <a:normAutofit/>
          </a:bodyPr>
          <a:lstStyle/>
          <a:p>
            <a:r>
              <a:rPr lang="en-US" dirty="0" smtClean="0">
                <a:solidFill>
                  <a:srgbClr val="FF0000"/>
                </a:solidFill>
                <a:latin typeface="Times New Roman" panose="02020603050405020304" pitchFamily="18" charset="0"/>
                <a:cs typeface="Times New Roman" panose="02020603050405020304" pitchFamily="18" charset="0"/>
              </a:rPr>
              <a:t>PIVOT TABLE&amp;CHART</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8095C81F-89B3-49CB-92CC-8D4BF25ED563}" type="slidenum">
              <a:rPr lang="en-IN" sz="1800" smtClean="0">
                <a:latin typeface="Times New Roman" panose="02020603050405020304" pitchFamily="18" charset="0"/>
                <a:cs typeface="Times New Roman" panose="02020603050405020304" pitchFamily="18" charset="0"/>
              </a:rPr>
              <a:t>3</a:t>
            </a:fld>
            <a:endParaRPr lang="en-IN" sz="1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0" y="0"/>
            <a:ext cx="4290391" cy="4996070"/>
          </a:xfrm>
          <a:prstGeom prst="rect">
            <a:avLst/>
          </a:prstGeom>
        </p:spPr>
      </p:pic>
      <p:pic>
        <p:nvPicPr>
          <p:cNvPr id="7" name="Picture 6"/>
          <p:cNvPicPr>
            <a:picLocks noChangeAspect="1"/>
          </p:cNvPicPr>
          <p:nvPr/>
        </p:nvPicPr>
        <p:blipFill>
          <a:blip r:embed="rId3"/>
          <a:stretch>
            <a:fillRect/>
          </a:stretch>
        </p:blipFill>
        <p:spPr>
          <a:xfrm>
            <a:off x="4290391" y="0"/>
            <a:ext cx="4161182" cy="5141843"/>
          </a:xfrm>
          <a:prstGeom prst="rect">
            <a:avLst/>
          </a:prstGeom>
        </p:spPr>
      </p:pic>
      <p:pic>
        <p:nvPicPr>
          <p:cNvPr id="8" name="Picture 7"/>
          <p:cNvPicPr>
            <a:picLocks noChangeAspect="1"/>
          </p:cNvPicPr>
          <p:nvPr/>
        </p:nvPicPr>
        <p:blipFill>
          <a:blip r:embed="rId4"/>
          <a:stretch>
            <a:fillRect/>
          </a:stretch>
        </p:blipFill>
        <p:spPr>
          <a:xfrm>
            <a:off x="8451572" y="0"/>
            <a:ext cx="3740427" cy="5273666"/>
          </a:xfrm>
          <a:prstGeom prst="rect">
            <a:avLst/>
          </a:prstGeom>
        </p:spPr>
      </p:pic>
    </p:spTree>
    <p:extLst>
      <p:ext uri="{BB962C8B-B14F-4D97-AF65-F5344CB8AC3E}">
        <p14:creationId xmlns:p14="http://schemas.microsoft.com/office/powerpoint/2010/main" val="3621566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698435"/>
            <a:ext cx="10836966" cy="1159565"/>
          </a:xfrm>
        </p:spPr>
        <p:txBody>
          <a:bodyPr>
            <a:normAutofit fontScale="90000"/>
          </a:bodyPr>
          <a:lstStyle/>
          <a:p>
            <a:r>
              <a:rPr lang="en-US" dirty="0" smtClean="0">
                <a:solidFill>
                  <a:srgbClr val="FF0000"/>
                </a:solidFill>
                <a:latin typeface="Times New Roman" panose="02020603050405020304" pitchFamily="18" charset="0"/>
                <a:cs typeface="Times New Roman" panose="02020603050405020304" pitchFamily="18" charset="0"/>
              </a:rPr>
              <a:t/>
            </a:r>
            <a:br>
              <a:rPr lang="en-US" dirty="0" smtClean="0">
                <a:solidFill>
                  <a:srgbClr val="FF0000"/>
                </a:solidFill>
                <a:latin typeface="Times New Roman" panose="02020603050405020304" pitchFamily="18" charset="0"/>
                <a:cs typeface="Times New Roman" panose="02020603050405020304" pitchFamily="18" charset="0"/>
              </a:rPr>
            </a:br>
            <a:r>
              <a:rPr lang="en-US" dirty="0" smtClean="0">
                <a:solidFill>
                  <a:srgbClr val="FF0000"/>
                </a:solidFill>
                <a:latin typeface="Times New Roman" panose="02020603050405020304" pitchFamily="18" charset="0"/>
                <a:cs typeface="Times New Roman" panose="02020603050405020304" pitchFamily="18" charset="0"/>
              </a:rPr>
              <a:t>DASHBOARD </a:t>
            </a:r>
            <a:r>
              <a:rPr lang="en-US" dirty="0" smtClean="0">
                <a:solidFill>
                  <a:srgbClr val="FF0000"/>
                </a:solidFill>
                <a:latin typeface="Times New Roman" panose="02020603050405020304" pitchFamily="18" charset="0"/>
                <a:cs typeface="Times New Roman" panose="02020603050405020304" pitchFamily="18" charset="0"/>
              </a:rPr>
              <a:t>CREATION</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8095C81F-89B3-49CB-92CC-8D4BF25ED563}" type="slidenum">
              <a:rPr lang="en-IN" sz="1800" smtClean="0">
                <a:latin typeface="Times New Roman" panose="02020603050405020304" pitchFamily="18" charset="0"/>
                <a:cs typeface="Times New Roman" panose="02020603050405020304" pitchFamily="18" charset="0"/>
              </a:rPr>
              <a:t>4</a:t>
            </a:fld>
            <a:endParaRPr lang="en-IN" sz="1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65043" y="-47266"/>
            <a:ext cx="12457043" cy="3029005"/>
          </a:xfrm>
          <a:prstGeom prst="rect">
            <a:avLst/>
          </a:prstGeom>
        </p:spPr>
      </p:pic>
      <p:pic>
        <p:nvPicPr>
          <p:cNvPr id="8" name="Picture 7"/>
          <p:cNvPicPr>
            <a:picLocks noChangeAspect="1"/>
          </p:cNvPicPr>
          <p:nvPr/>
        </p:nvPicPr>
        <p:blipFill>
          <a:blip r:embed="rId3"/>
          <a:stretch>
            <a:fillRect/>
          </a:stretch>
        </p:blipFill>
        <p:spPr>
          <a:xfrm>
            <a:off x="0" y="2981739"/>
            <a:ext cx="12192000" cy="1696977"/>
          </a:xfrm>
          <a:prstGeom prst="rect">
            <a:avLst/>
          </a:prstGeom>
        </p:spPr>
      </p:pic>
      <p:pic>
        <p:nvPicPr>
          <p:cNvPr id="9" name="Picture 8"/>
          <p:cNvPicPr>
            <a:picLocks noChangeAspect="1"/>
          </p:cNvPicPr>
          <p:nvPr/>
        </p:nvPicPr>
        <p:blipFill>
          <a:blip r:embed="rId4"/>
          <a:stretch>
            <a:fillRect/>
          </a:stretch>
        </p:blipFill>
        <p:spPr>
          <a:xfrm>
            <a:off x="0" y="4678716"/>
            <a:ext cx="12192000" cy="1332028"/>
          </a:xfrm>
          <a:prstGeom prst="rect">
            <a:avLst/>
          </a:prstGeom>
        </p:spPr>
      </p:pic>
    </p:spTree>
    <p:extLst>
      <p:ext uri="{BB962C8B-B14F-4D97-AF65-F5344CB8AC3E}">
        <p14:creationId xmlns:p14="http://schemas.microsoft.com/office/powerpoint/2010/main" val="2454416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5369"/>
            <a:ext cx="10515600" cy="1325563"/>
          </a:xfrm>
        </p:spPr>
        <p:txBody>
          <a:bodyPr>
            <a:normAutofit/>
          </a:bodyPr>
          <a:lstStyle/>
          <a:p>
            <a:pPr algn="ctr"/>
            <a:r>
              <a:rPr lang="en-IN" sz="3600" b="1" dirty="0" smtClean="0">
                <a:solidFill>
                  <a:srgbClr val="FF0000"/>
                </a:solidFill>
              </a:rPr>
              <a:t>INTEGRATE </a:t>
            </a:r>
            <a:r>
              <a:rPr lang="en-IN" sz="3600" b="1" dirty="0" smtClean="0">
                <a:solidFill>
                  <a:srgbClr val="FF0000"/>
                </a:solidFill>
              </a:rPr>
              <a:t>EXCEL </a:t>
            </a:r>
            <a:r>
              <a:rPr lang="en-IN" sz="3600" b="1" dirty="0" smtClean="0">
                <a:solidFill>
                  <a:srgbClr val="FF0000"/>
                </a:solidFill>
              </a:rPr>
              <a:t>INTO SQL</a:t>
            </a:r>
            <a:endParaRPr lang="en-IN" sz="3600" b="1" dirty="0">
              <a:solidFill>
                <a:srgbClr val="FF0000"/>
              </a:solidFill>
            </a:endParaRPr>
          </a:p>
        </p:txBody>
      </p:sp>
      <p:sp>
        <p:nvSpPr>
          <p:cNvPr id="3" name="Slide Number Placeholder 2"/>
          <p:cNvSpPr>
            <a:spLocks noGrp="1"/>
          </p:cNvSpPr>
          <p:nvPr>
            <p:ph type="sldNum" sz="quarter" idx="12"/>
          </p:nvPr>
        </p:nvSpPr>
        <p:spPr/>
        <p:txBody>
          <a:bodyPr/>
          <a:lstStyle/>
          <a:p>
            <a:fld id="{8095C81F-89B3-49CB-92CC-8D4BF25ED563}" type="slidenum">
              <a:rPr lang="en-IN" smtClean="0"/>
              <a:t>5</a:t>
            </a:fld>
            <a:endParaRPr lang="en-IN"/>
          </a:p>
        </p:txBody>
      </p:sp>
      <p:sp>
        <p:nvSpPr>
          <p:cNvPr id="4" name="Rectangle 1"/>
          <p:cNvSpPr>
            <a:spLocks noChangeArrowheads="1"/>
          </p:cNvSpPr>
          <p:nvPr/>
        </p:nvSpPr>
        <p:spPr bwMode="auto">
          <a:xfrm>
            <a:off x="838200" y="1722426"/>
            <a:ext cx="11688417"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smtClean="0">
                <a:latin typeface="Arial" panose="020B0604020202020204" pitchFamily="34" charset="0"/>
              </a:rPr>
              <a:t>1.Prepare your excel file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smtClean="0">
                <a:ln>
                  <a:noFill/>
                </a:ln>
                <a:solidFill>
                  <a:schemeClr val="tx1"/>
                </a:solidFill>
                <a:effectLst/>
                <a:latin typeface="Arial" panose="020B0604020202020204" pitchFamily="34" charset="0"/>
              </a:rPr>
              <a:t>2.Save the file as CSV</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smtClean="0">
                <a:latin typeface="Arial" panose="020B0604020202020204" pitchFamily="34" charset="0"/>
              </a:rPr>
              <a:t>3.Open SQL database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smtClean="0">
                <a:ln>
                  <a:noFill/>
                </a:ln>
                <a:solidFill>
                  <a:schemeClr val="tx1"/>
                </a:solidFill>
                <a:effectLst/>
                <a:latin typeface="Arial" panose="020B0604020202020204" pitchFamily="34" charset="0"/>
              </a:rPr>
              <a:t>4.Right click</a:t>
            </a:r>
            <a:r>
              <a:rPr kumimoji="0" lang="en-US" altLang="en-US" sz="2400" i="0" u="none" strike="noStrike" cap="none" normalizeH="0" dirty="0" smtClean="0">
                <a:ln>
                  <a:noFill/>
                </a:ln>
                <a:solidFill>
                  <a:schemeClr val="tx1"/>
                </a:solidFill>
                <a:effectLst/>
                <a:latin typeface="Arial" panose="020B0604020202020204" pitchFamily="34" charset="0"/>
              </a:rPr>
              <a:t> </a:t>
            </a:r>
            <a:r>
              <a:rPr kumimoji="0" lang="en-US" altLang="en-US" sz="2400" i="0" u="none" strike="noStrike" cap="none" normalizeH="0" baseline="0" dirty="0" smtClean="0">
                <a:ln>
                  <a:noFill/>
                </a:ln>
                <a:solidFill>
                  <a:schemeClr val="tx1"/>
                </a:solidFill>
                <a:effectLst/>
                <a:latin typeface="Arial" panose="020B0604020202020204" pitchFamily="34" charset="0"/>
              </a:rPr>
              <a:t>create schema(name of the table)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smtClean="0">
                <a:latin typeface="Arial" panose="020B0604020202020204" pitchFamily="34" charset="0"/>
              </a:rPr>
              <a:t>5.In left side visible the table name and again right click go to table import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smtClean="0">
                <a:ln>
                  <a:noFill/>
                </a:ln>
                <a:solidFill>
                  <a:schemeClr val="tx1"/>
                </a:solidFill>
                <a:effectLst/>
                <a:latin typeface="Arial" panose="020B0604020202020204" pitchFamily="34" charset="0"/>
              </a:rPr>
              <a:t>6.</a:t>
            </a:r>
            <a:r>
              <a:rPr kumimoji="0" lang="en-US" altLang="en-US" sz="2400" i="0" u="none" strike="noStrike" cap="none" normalizeH="0" dirty="0" smtClean="0">
                <a:ln>
                  <a:noFill/>
                </a:ln>
                <a:solidFill>
                  <a:schemeClr val="tx1"/>
                </a:solidFill>
                <a:effectLst/>
                <a:latin typeface="Arial" panose="020B0604020202020204" pitchFamily="34" charset="0"/>
              </a:rPr>
              <a:t>Refresh all</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aseline="0" dirty="0" smtClean="0">
                <a:latin typeface="Arial" panose="020B0604020202020204" pitchFamily="34" charset="0"/>
              </a:rPr>
              <a:t>7.Verify</a:t>
            </a:r>
            <a:r>
              <a:rPr lang="en-US" altLang="en-US" sz="2400" dirty="0" smtClean="0">
                <a:latin typeface="Arial" panose="020B0604020202020204" pitchFamily="34" charset="0"/>
              </a:rPr>
              <a:t> data and start displaying tables and display KPI parameters via SQL code</a:t>
            </a:r>
            <a:endParaRPr kumimoji="0" lang="en-US" altLang="en-US" sz="240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12112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6592" y="172279"/>
            <a:ext cx="3935896" cy="1166191"/>
          </a:xfrm>
        </p:spPr>
        <p:txBody>
          <a:bodyPr>
            <a:noAutofit/>
          </a:bodyPr>
          <a:lstStyle/>
          <a:p>
            <a:r>
              <a:rPr lang="en-GB" sz="1800" b="1" u="sng" dirty="0" smtClean="0"/>
              <a:t>1.Total </a:t>
            </a:r>
            <a:r>
              <a:rPr lang="en-GB" sz="1800" b="1" u="sng" dirty="0"/>
              <a:t>records:</a:t>
            </a:r>
            <a:r>
              <a:rPr lang="en-IN" sz="1800" dirty="0"/>
              <a:t/>
            </a:r>
            <a:br>
              <a:rPr lang="en-IN" sz="1800" dirty="0"/>
            </a:br>
            <a:r>
              <a:rPr lang="en-GB" sz="1800" dirty="0"/>
              <a:t>SELECT COUNT(*) AS </a:t>
            </a:r>
            <a:r>
              <a:rPr lang="en-GB" sz="1800" dirty="0" err="1"/>
              <a:t>total_records</a:t>
            </a:r>
            <a:r>
              <a:rPr lang="en-IN" sz="1800" dirty="0"/>
              <a:t/>
            </a:r>
            <a:br>
              <a:rPr lang="en-IN" sz="1800" dirty="0"/>
            </a:br>
            <a:r>
              <a:rPr lang="en-GB" sz="1800" dirty="0"/>
              <a:t>FROM </a:t>
            </a:r>
            <a:r>
              <a:rPr lang="en-GB" sz="1800" dirty="0" err="1"/>
              <a:t>diabetes.`diabetes</a:t>
            </a:r>
            <a:r>
              <a:rPr lang="en-GB" sz="1800" dirty="0"/>
              <a:t> dataset _csv`;</a:t>
            </a:r>
            <a:r>
              <a:rPr lang="en-IN" sz="1800" dirty="0"/>
              <a:t/>
            </a:r>
            <a:br>
              <a:rPr lang="en-IN" sz="1800" dirty="0"/>
            </a:br>
            <a:endParaRPr lang="en-IN" sz="1800" dirty="0"/>
          </a:p>
        </p:txBody>
      </p:sp>
      <p:sp>
        <p:nvSpPr>
          <p:cNvPr id="3" name="Slide Number Placeholder 2"/>
          <p:cNvSpPr>
            <a:spLocks noGrp="1"/>
          </p:cNvSpPr>
          <p:nvPr>
            <p:ph type="sldNum" sz="quarter" idx="12"/>
          </p:nvPr>
        </p:nvSpPr>
        <p:spPr/>
        <p:txBody>
          <a:bodyPr/>
          <a:lstStyle/>
          <a:p>
            <a:fld id="{8095C81F-89B3-49CB-92CC-8D4BF25ED563}" type="slidenum">
              <a:rPr lang="en-IN" smtClean="0"/>
              <a:t>6</a:t>
            </a:fld>
            <a:endParaRPr lang="en-IN"/>
          </a:p>
        </p:txBody>
      </p:sp>
      <p:pic>
        <p:nvPicPr>
          <p:cNvPr id="4" name="Picture 3"/>
          <p:cNvPicPr/>
          <p:nvPr/>
        </p:nvPicPr>
        <p:blipFill>
          <a:blip r:embed="rId2"/>
          <a:stretch>
            <a:fillRect/>
          </a:stretch>
        </p:blipFill>
        <p:spPr>
          <a:xfrm>
            <a:off x="0" y="1338470"/>
            <a:ext cx="6228522" cy="5025432"/>
          </a:xfrm>
          <a:prstGeom prst="rect">
            <a:avLst/>
          </a:prstGeom>
        </p:spPr>
      </p:pic>
      <p:pic>
        <p:nvPicPr>
          <p:cNvPr id="5" name="Picture 4"/>
          <p:cNvPicPr/>
          <p:nvPr/>
        </p:nvPicPr>
        <p:blipFill>
          <a:blip r:embed="rId3"/>
          <a:stretch>
            <a:fillRect/>
          </a:stretch>
        </p:blipFill>
        <p:spPr>
          <a:xfrm>
            <a:off x="6228522" y="1338470"/>
            <a:ext cx="5963477" cy="5017880"/>
          </a:xfrm>
          <a:prstGeom prst="rect">
            <a:avLst/>
          </a:prstGeom>
        </p:spPr>
      </p:pic>
      <p:sp>
        <p:nvSpPr>
          <p:cNvPr id="6" name="Rectangle 5"/>
          <p:cNvSpPr/>
          <p:nvPr/>
        </p:nvSpPr>
        <p:spPr>
          <a:xfrm>
            <a:off x="5989983" y="172279"/>
            <a:ext cx="5658678" cy="923330"/>
          </a:xfrm>
          <a:prstGeom prst="rect">
            <a:avLst/>
          </a:prstGeom>
        </p:spPr>
        <p:txBody>
          <a:bodyPr wrap="square">
            <a:spAutoFit/>
          </a:bodyPr>
          <a:lstStyle/>
          <a:p>
            <a:r>
              <a:rPr lang="en-GB" b="1" u="sng" dirty="0" smtClean="0">
                <a:latin typeface="Times New Roman" panose="02020603050405020304" pitchFamily="18" charset="0"/>
                <a:ea typeface="Times New Roman" panose="02020603050405020304" pitchFamily="18" charset="0"/>
              </a:rPr>
              <a:t>2.Average </a:t>
            </a:r>
            <a:r>
              <a:rPr lang="en-GB" b="1" u="sng" dirty="0">
                <a:latin typeface="Times New Roman" panose="02020603050405020304" pitchFamily="18" charset="0"/>
                <a:ea typeface="Times New Roman" panose="02020603050405020304" pitchFamily="18" charset="0"/>
              </a:rPr>
              <a:t>Age of Patients:</a:t>
            </a:r>
            <a:endParaRPr lang="en-IN" sz="3200" b="1" dirty="0">
              <a:latin typeface="Times New Roman" panose="02020603050405020304" pitchFamily="18" charset="0"/>
              <a:ea typeface="Times New Roman" panose="02020603050405020304" pitchFamily="18" charset="0"/>
            </a:endParaRPr>
          </a:p>
          <a:p>
            <a:r>
              <a:rPr lang="en-GB" dirty="0">
                <a:latin typeface="Times New Roman" panose="02020603050405020304" pitchFamily="18" charset="0"/>
                <a:ea typeface="Times New Roman" panose="02020603050405020304" pitchFamily="18" charset="0"/>
              </a:rPr>
              <a:t>SELECT AVG(Age) AS </a:t>
            </a:r>
            <a:r>
              <a:rPr lang="en-GB" dirty="0" err="1">
                <a:latin typeface="Times New Roman" panose="02020603050405020304" pitchFamily="18" charset="0"/>
                <a:ea typeface="Times New Roman" panose="02020603050405020304" pitchFamily="18" charset="0"/>
              </a:rPr>
              <a:t>avg_age</a:t>
            </a:r>
            <a:endParaRPr lang="en-IN" sz="3200" b="1" dirty="0">
              <a:latin typeface="Times New Roman" panose="02020603050405020304" pitchFamily="18" charset="0"/>
              <a:ea typeface="Times New Roman" panose="02020603050405020304" pitchFamily="18" charset="0"/>
            </a:endParaRPr>
          </a:p>
          <a:p>
            <a:r>
              <a:rPr lang="en-GB" dirty="0">
                <a:latin typeface="Times New Roman" panose="02020603050405020304" pitchFamily="18" charset="0"/>
                <a:ea typeface="Times New Roman" panose="02020603050405020304" pitchFamily="18" charset="0"/>
              </a:rPr>
              <a:t>FROM </a:t>
            </a:r>
            <a:r>
              <a:rPr lang="en-GB" dirty="0" err="1">
                <a:latin typeface="Times New Roman" panose="02020603050405020304" pitchFamily="18" charset="0"/>
                <a:ea typeface="Times New Roman" panose="02020603050405020304" pitchFamily="18" charset="0"/>
              </a:rPr>
              <a:t>diabetes.`diabetes</a:t>
            </a:r>
            <a:r>
              <a:rPr lang="en-GB" dirty="0">
                <a:latin typeface="Times New Roman" panose="02020603050405020304" pitchFamily="18" charset="0"/>
                <a:ea typeface="Times New Roman" panose="02020603050405020304" pitchFamily="18" charset="0"/>
              </a:rPr>
              <a:t> dataset _csv`;</a:t>
            </a:r>
            <a:endParaRPr lang="en-IN" sz="32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68312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സംഭാവന ചെയ്യുക - GCompris"/>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983896"/>
          </a:xfrm>
        </p:spPr>
      </p:pic>
      <p:sp>
        <p:nvSpPr>
          <p:cNvPr id="2" name="Slide Number Placeholder 1"/>
          <p:cNvSpPr>
            <a:spLocks noGrp="1"/>
          </p:cNvSpPr>
          <p:nvPr>
            <p:ph type="sldNum" sz="quarter" idx="12"/>
          </p:nvPr>
        </p:nvSpPr>
        <p:spPr/>
        <p:txBody>
          <a:bodyPr/>
          <a:lstStyle/>
          <a:p>
            <a:fld id="{8095C81F-89B3-49CB-92CC-8D4BF25ED563}" type="slidenum">
              <a:rPr lang="en-IN" smtClean="0"/>
              <a:t>7</a:t>
            </a:fld>
            <a:endParaRPr lang="en-IN"/>
          </a:p>
        </p:txBody>
      </p:sp>
    </p:spTree>
    <p:extLst>
      <p:ext uri="{BB962C8B-B14F-4D97-AF65-F5344CB8AC3E}">
        <p14:creationId xmlns:p14="http://schemas.microsoft.com/office/powerpoint/2010/main" val="26943333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353</TotalTime>
  <Words>178</Words>
  <Application>Microsoft Office PowerPoint</Application>
  <PresentationFormat>Widescreen</PresentationFormat>
  <Paragraphs>24</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PowerPoint Presentation</vt:lpstr>
      <vt:lpstr>DATA CLEANING PREPARATION 1.Conditional formatting-color scales 2.Fomat Cells - Font Size </vt:lpstr>
      <vt:lpstr>PIVOT TABLE&amp;CHART</vt:lpstr>
      <vt:lpstr> DASHBOARD CREATION</vt:lpstr>
      <vt:lpstr>INTEGRATE EXCEL INTO SQL</vt:lpstr>
      <vt:lpstr>1.Total records: SELECT COUNT(*) AS total_records FROM diabetes.`diabetes dataset _csv`;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Lenovo</cp:lastModifiedBy>
  <cp:revision>54</cp:revision>
  <dcterms:created xsi:type="dcterms:W3CDTF">2025-10-06T15:41:34Z</dcterms:created>
  <dcterms:modified xsi:type="dcterms:W3CDTF">2025-12-05T08:02:43Z</dcterms:modified>
</cp:coreProperties>
</file>